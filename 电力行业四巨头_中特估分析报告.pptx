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电力行业四巨头</a:t>
            </a:r>
          </a:p>
          <a:p>
            <a:pPr algn="ctr">
              <a:defRPr sz="3200">
                <a:solidFill>
                  <a:srgbClr val="F97316"/>
                </a:solidFill>
              </a:defRPr>
            </a:pPr>
            <a:r>
              <a:t>中特估分析报告</a:t>
            </a:r>
          </a:p>
          <a:p>
            <a:br/>
            <a:pPr algn="ctr">
              <a:defRPr sz="1800">
                <a:solidFill>
                  <a:srgbClr val="6B6B6B"/>
                </a:solidFill>
              </a:defRPr>
            </a:pPr>
            <a:r>
              <a:t>华能蒙电 · 华能国际 · 国投电力 · 长江电力</a:t>
            </a:r>
          </a:p>
          <a:p>
            <a:br/>
            <a:pPr algn="ctr">
              <a:defRPr sz="1400">
                <a:solidFill>
                  <a:srgbClr val="6B6B6B"/>
                </a:solidFill>
              </a:defRPr>
            </a:pPr>
            <a:r>
              <a:t>2026年05月31日 · A股中特估分析框架 v2.1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</a:defRPr>
            </a:pPr>
            <a:r>
              <a:t>综合排名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2"/>
                <a:gridCol w="1567542"/>
                <a:gridCol w="1567542"/>
                <a:gridCol w="1567542"/>
                <a:gridCol w="1567542"/>
                <a:gridCol w="1567542"/>
                <a:gridCol w="1567548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公司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代码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市值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ROE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质量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政策分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华能国际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600011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976亿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66534"/>
                          </a:solidFill>
                        </a:defRPr>
                      </a:pPr>
                      <a:r>
                        <a:t>19.9%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良好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4.7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长江电力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600900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6790亿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18.8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66534"/>
                          </a:solidFill>
                        </a:defRPr>
                      </a:pPr>
                      <a:r>
                        <a:t>15.8%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良好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2.8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华能蒙电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600863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476亿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一般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6.5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国投电力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600886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1066亿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15.4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10.8%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一般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3.7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6576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关键洞察</a:t>
            </a:r>
          </a:p>
          <a:p>
            <a:pPr>
              <a:spcAft>
                <a:spcPts val="800"/>
              </a:spcAft>
              <a:defRPr sz="1400">
                <a:solidFill>
                  <a:srgbClr val="6B6B6B"/>
                </a:solidFill>
              </a:defRPr>
            </a:pPr>
            <a:r>
              <a:t>• 华能国际ROE最高(19.9%)，行业龙头地位稳固</a:t>
            </a:r>
          </a:p>
          <a:p>
            <a:pPr>
              <a:spcAft>
                <a:spcPts val="800"/>
              </a:spcAft>
              <a:defRPr sz="1400">
                <a:solidFill>
                  <a:srgbClr val="6B6B6B"/>
                </a:solidFill>
              </a:defRPr>
            </a:pPr>
            <a:r>
              <a:t>• 长江电力ROE稳定(15.8%)，全球最大水电，适合稳健投资</a:t>
            </a:r>
          </a:p>
          <a:p>
            <a:pPr>
              <a:spcAft>
                <a:spcPts val="800"/>
              </a:spcAft>
              <a:defRPr sz="1400">
                <a:solidFill>
                  <a:srgbClr val="6B6B6B"/>
                </a:solidFill>
              </a:defRPr>
            </a:pPr>
            <a:r>
              <a:t>• 华能蒙电政策匹配度最高(13.4)，清洁能源转型积极</a:t>
            </a:r>
          </a:p>
          <a:p>
            <a:pPr>
              <a:spcAft>
                <a:spcPts val="800"/>
              </a:spcAft>
              <a:defRPr sz="1400">
                <a:solidFill>
                  <a:srgbClr val="6B6B6B"/>
                </a:solidFill>
              </a:defRPr>
            </a:pPr>
            <a:r>
              <a:t>• 国投电力ROE改善中，清洁能源装机增长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A1A1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华能蒙电</a:t>
            </a:r>
          </a:p>
          <a:p>
            <a:pPr>
              <a:defRPr sz="1400">
                <a:solidFill>
                  <a:srgbClr val="6B6B6B"/>
                </a:solidFill>
              </a:defRPr>
            </a:pPr>
            <a:r>
              <a:t>600863 · 市值 476亿 · PE 25.2 · PB 2.74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82880"/>
            <a:ext cx="3657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4800" b="1">
                <a:solidFill>
                  <a:srgbClr val="F97316"/>
                </a:solidFill>
              </a:defRPr>
            </a:pPr>
            <a:r>
              <a:t>10.9%</a:t>
            </a:r>
          </a:p>
          <a:p>
            <a:pPr algn="r">
              <a:defRPr sz="1600">
                <a:solidFill>
                  <a:srgbClr val="6B6B6B"/>
                </a:solidFill>
              </a:defRPr>
            </a:pPr>
            <a:r>
              <a:t>ROE · 一般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560320" cy="109728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10.9%</a:t>
            </a:r>
          </a:p>
          <a:p>
            <a:pPr algn="ctr">
              <a:defRPr sz="1200">
                <a:solidFill>
                  <a:srgbClr val="6B6B6B"/>
                </a:solidFill>
              </a:defRPr>
            </a:pPr>
            <a:r>
              <a:t>ROE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645920"/>
            <a:ext cx="2560320" cy="109728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73736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18.8%</a:t>
            </a:r>
          </a:p>
          <a:p>
            <a:pPr algn="ctr">
              <a:defRPr sz="1200">
                <a:solidFill>
                  <a:srgbClr val="6B6B6B"/>
                </a:solidFill>
              </a:defRPr>
            </a:pPr>
            <a:r>
              <a:t>净利率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2560320" cy="109728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0.30</a:t>
            </a:r>
          </a:p>
          <a:p>
            <a:pPr algn="ctr">
              <a:defRPr sz="1200">
                <a:solidFill>
                  <a:srgbClr val="6B6B6B"/>
                </a:solidFill>
              </a:defRPr>
            </a:pPr>
            <a:r>
              <a:t>资产周转率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1645920"/>
            <a:ext cx="2560320" cy="109728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0" y="173736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6.5</a:t>
            </a:r>
          </a:p>
          <a:p>
            <a:pPr algn="ctr">
              <a:defRPr sz="1200">
                <a:solidFill>
                  <a:srgbClr val="6B6B6B"/>
                </a:solidFill>
              </a:defRPr>
            </a:pPr>
            <a:r>
              <a:t>政策匹配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260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政策匹配维度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74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6B6B"/>
                </a:solidFill>
              </a:defRPr>
            </a:pPr>
            <a:r>
              <a:t>绿色发展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3520440"/>
            <a:ext cx="3657600" cy="228600"/>
          </a:xfrm>
          <a:prstGeom prst="round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86000" y="3520440"/>
            <a:ext cx="1463040" cy="228600"/>
          </a:xfrm>
          <a:prstGeom prst="round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34747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86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6B6B"/>
                </a:solidFill>
              </a:defRPr>
            </a:pPr>
            <a:r>
              <a:t>国企改革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3931920"/>
            <a:ext cx="3657600" cy="228600"/>
          </a:xfrm>
          <a:prstGeom prst="round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86000" y="3931920"/>
            <a:ext cx="731520" cy="228600"/>
          </a:xfrm>
          <a:prstGeom prst="round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3886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97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6B6B"/>
                </a:solidFill>
              </a:defRPr>
            </a:pPr>
            <a:r>
              <a:t>ROE提升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0" y="4343400"/>
            <a:ext cx="3657600" cy="228600"/>
          </a:xfrm>
          <a:prstGeom prst="round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286000" y="4343400"/>
            <a:ext cx="91440" cy="228600"/>
          </a:xfrm>
          <a:prstGeom prst="round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42976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709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6B6B"/>
                </a:solidFill>
              </a:defRPr>
            </a:pPr>
            <a:r>
              <a:t>数字化转型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86000" y="4754880"/>
            <a:ext cx="3657600" cy="228600"/>
          </a:xfrm>
          <a:prstGeom prst="round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286000" y="4754880"/>
            <a:ext cx="91440" cy="228600"/>
          </a:xfrm>
          <a:prstGeom prst="round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4709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120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6B6B"/>
                </a:solidFill>
              </a:defRPr>
            </a:pPr>
            <a:r>
              <a:t>创新驱动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86000" y="5166360"/>
            <a:ext cx="3657600" cy="228600"/>
          </a:xfrm>
          <a:prstGeom prst="round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286000" y="5166360"/>
            <a:ext cx="91440" cy="228600"/>
          </a:xfrm>
          <a:prstGeom prst="round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5120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5321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6B6B"/>
                </a:solidFill>
              </a:defRPr>
            </a:pPr>
            <a:r>
              <a:t>区域发展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286000" y="5577840"/>
            <a:ext cx="3657600" cy="228600"/>
          </a:xfrm>
          <a:prstGeom prst="round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286000" y="5577840"/>
            <a:ext cx="91440" cy="228600"/>
          </a:xfrm>
          <a:prstGeom prst="round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0" y="55321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943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6B6B"/>
                </a:solidFill>
              </a:defRPr>
            </a:pPr>
            <a:r>
              <a:t>消费升级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286000" y="5989320"/>
            <a:ext cx="3657600" cy="228600"/>
          </a:xfrm>
          <a:prstGeom prst="round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286000" y="5989320"/>
            <a:ext cx="91440" cy="228600"/>
          </a:xfrm>
          <a:prstGeom prst="round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0" y="59436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35507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6B6B"/>
                </a:solidFill>
              </a:defRPr>
            </a:pPr>
            <a:r>
              <a:t>供应链安全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286000" y="6400799"/>
            <a:ext cx="3657600" cy="228600"/>
          </a:xfrm>
          <a:prstGeom prst="round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286000" y="6400799"/>
            <a:ext cx="91440" cy="228600"/>
          </a:xfrm>
          <a:prstGeom prst="round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0" y="6355079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29260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分析洞察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34747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✓ 毛利率高，定价能力强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✓ 净利率优秀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✗ 资产周转效率低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→ 建议优化资产配置提升周转效率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→ 关注电价政策和清洁能源转型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A1A1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华能国际</a:t>
            </a:r>
          </a:p>
          <a:p>
            <a:pPr>
              <a:defRPr sz="1400">
                <a:solidFill>
                  <a:srgbClr val="6B6B6B"/>
                </a:solidFill>
              </a:defRPr>
            </a:pPr>
            <a:r>
              <a:t>600011 · 市值 976亿 · PE 10.0 · PB 1.99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82880"/>
            <a:ext cx="3657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4800" b="1">
                <a:solidFill>
                  <a:srgbClr val="F97316"/>
                </a:solidFill>
              </a:defRPr>
            </a:pPr>
            <a:r>
              <a:t>19.9%</a:t>
            </a:r>
          </a:p>
          <a:p>
            <a:pPr algn="r">
              <a:defRPr sz="1600">
                <a:solidFill>
                  <a:srgbClr val="6B6B6B"/>
                </a:solidFill>
              </a:defRPr>
            </a:pPr>
            <a:r>
              <a:t>ROE · 良好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560320" cy="109728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19.9%</a:t>
            </a:r>
          </a:p>
          <a:p>
            <a:pPr algn="ctr">
              <a:defRPr sz="1200">
                <a:solidFill>
                  <a:srgbClr val="6B6B6B"/>
                </a:solidFill>
              </a:defRPr>
            </a:pPr>
            <a:r>
              <a:t>ROE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645920"/>
            <a:ext cx="2560320" cy="109728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73736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19.9%</a:t>
            </a:r>
          </a:p>
          <a:p>
            <a:pPr algn="ctr">
              <a:defRPr sz="1200">
                <a:solidFill>
                  <a:srgbClr val="6B6B6B"/>
                </a:solidFill>
              </a:defRPr>
            </a:pPr>
            <a:r>
              <a:t>净利率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2560320" cy="109728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0.45</a:t>
            </a:r>
          </a:p>
          <a:p>
            <a:pPr algn="ctr">
              <a:defRPr sz="1200">
                <a:solidFill>
                  <a:srgbClr val="6B6B6B"/>
                </a:solidFill>
              </a:defRPr>
            </a:pPr>
            <a:r>
              <a:t>资产周转率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1645920"/>
            <a:ext cx="2560320" cy="109728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0" y="173736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4.7</a:t>
            </a:r>
          </a:p>
          <a:p>
            <a:pPr algn="ctr">
              <a:defRPr sz="1200">
                <a:solidFill>
                  <a:srgbClr val="6B6B6B"/>
                </a:solidFill>
              </a:defRPr>
            </a:pPr>
            <a:r>
              <a:t>政策匹配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260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政策匹配维度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74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6B6B"/>
                </a:solidFill>
              </a:defRPr>
            </a:pPr>
            <a:r>
              <a:t>绿色发展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3520440"/>
            <a:ext cx="3657600" cy="228600"/>
          </a:xfrm>
          <a:prstGeom prst="round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86000" y="3520440"/>
            <a:ext cx="877824" cy="228600"/>
          </a:xfrm>
          <a:prstGeom prst="round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34747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86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6B6B"/>
                </a:solidFill>
              </a:defRPr>
            </a:pPr>
            <a:r>
              <a:t>国企改革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3931920"/>
            <a:ext cx="3657600" cy="228600"/>
          </a:xfrm>
          <a:prstGeom prst="round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86000" y="3931920"/>
            <a:ext cx="731520" cy="228600"/>
          </a:xfrm>
          <a:prstGeom prst="round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3886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97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6B6B"/>
                </a:solidFill>
              </a:defRPr>
            </a:pPr>
            <a:r>
              <a:t>ROE提升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0" y="4343400"/>
            <a:ext cx="3657600" cy="228600"/>
          </a:xfrm>
          <a:prstGeom prst="round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286000" y="4343400"/>
            <a:ext cx="91440" cy="228600"/>
          </a:xfrm>
          <a:prstGeom prst="round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42976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709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6B6B"/>
                </a:solidFill>
              </a:defRPr>
            </a:pPr>
            <a:r>
              <a:t>数字化转型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86000" y="4754880"/>
            <a:ext cx="3657600" cy="228600"/>
          </a:xfrm>
          <a:prstGeom prst="round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286000" y="4754880"/>
            <a:ext cx="91440" cy="228600"/>
          </a:xfrm>
          <a:prstGeom prst="round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4709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120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6B6B"/>
                </a:solidFill>
              </a:defRPr>
            </a:pPr>
            <a:r>
              <a:t>创新驱动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86000" y="5166360"/>
            <a:ext cx="3657600" cy="228600"/>
          </a:xfrm>
          <a:prstGeom prst="round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286000" y="5166360"/>
            <a:ext cx="91440" cy="228600"/>
          </a:xfrm>
          <a:prstGeom prst="round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5120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5321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6B6B"/>
                </a:solidFill>
              </a:defRPr>
            </a:pPr>
            <a:r>
              <a:t>区域发展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286000" y="5577840"/>
            <a:ext cx="3657600" cy="228600"/>
          </a:xfrm>
          <a:prstGeom prst="round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286000" y="5577840"/>
            <a:ext cx="91440" cy="228600"/>
          </a:xfrm>
          <a:prstGeom prst="round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0" y="55321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943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6B6B"/>
                </a:solidFill>
              </a:defRPr>
            </a:pPr>
            <a:r>
              <a:t>消费升级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286000" y="5989320"/>
            <a:ext cx="3657600" cy="228600"/>
          </a:xfrm>
          <a:prstGeom prst="round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286000" y="5989320"/>
            <a:ext cx="91440" cy="228600"/>
          </a:xfrm>
          <a:prstGeom prst="round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0" y="59436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35507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6B6B"/>
                </a:solidFill>
              </a:defRPr>
            </a:pPr>
            <a:r>
              <a:t>供应链安全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286000" y="6400799"/>
            <a:ext cx="3657600" cy="228600"/>
          </a:xfrm>
          <a:prstGeom prst="round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286000" y="6400799"/>
            <a:ext cx="91440" cy="228600"/>
          </a:xfrm>
          <a:prstGeom prst="round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0" y="6355079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29260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分析洞察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34747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✓ 毛利率高，定价能力强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✓ 净利率优秀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✗ 资产周转效率低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→ 建议优化资产配置提升周转效率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→ 关注电价政策和清洁能源转型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A1A1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国投电力</a:t>
            </a:r>
          </a:p>
          <a:p>
            <a:pPr>
              <a:defRPr sz="1400">
                <a:solidFill>
                  <a:srgbClr val="6B6B6B"/>
                </a:solidFill>
              </a:defRPr>
            </a:pPr>
            <a:r>
              <a:t>600886 · 市值 1066亿 · PE 15.4 · PB 1.66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82880"/>
            <a:ext cx="3657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4800" b="1">
                <a:solidFill>
                  <a:srgbClr val="F97316"/>
                </a:solidFill>
              </a:defRPr>
            </a:pPr>
            <a:r>
              <a:t>10.8%</a:t>
            </a:r>
          </a:p>
          <a:p>
            <a:pPr algn="r">
              <a:defRPr sz="1600">
                <a:solidFill>
                  <a:srgbClr val="6B6B6B"/>
                </a:solidFill>
              </a:defRPr>
            </a:pPr>
            <a:r>
              <a:t>ROE · 一般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560320" cy="109728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10.8%</a:t>
            </a:r>
          </a:p>
          <a:p>
            <a:pPr algn="ctr">
              <a:defRPr sz="1200">
                <a:solidFill>
                  <a:srgbClr val="6B6B6B"/>
                </a:solidFill>
              </a:defRPr>
            </a:pPr>
            <a:r>
              <a:t>ROE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645920"/>
            <a:ext cx="2560320" cy="109728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73736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21.6%</a:t>
            </a:r>
          </a:p>
          <a:p>
            <a:pPr algn="ctr">
              <a:defRPr sz="1200">
                <a:solidFill>
                  <a:srgbClr val="6B6B6B"/>
                </a:solidFill>
              </a:defRPr>
            </a:pPr>
            <a:r>
              <a:t>净利率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2560320" cy="109728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0.25</a:t>
            </a:r>
          </a:p>
          <a:p>
            <a:pPr algn="ctr">
              <a:defRPr sz="1200">
                <a:solidFill>
                  <a:srgbClr val="6B6B6B"/>
                </a:solidFill>
              </a:defRPr>
            </a:pPr>
            <a:r>
              <a:t>资产周转率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1645920"/>
            <a:ext cx="2560320" cy="109728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0" y="173736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3.7</a:t>
            </a:r>
          </a:p>
          <a:p>
            <a:pPr algn="ctr">
              <a:defRPr sz="1200">
                <a:solidFill>
                  <a:srgbClr val="6B6B6B"/>
                </a:solidFill>
              </a:defRPr>
            </a:pPr>
            <a:r>
              <a:t>政策匹配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260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政策匹配维度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74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6B6B"/>
                </a:solidFill>
              </a:defRPr>
            </a:pPr>
            <a:r>
              <a:t>绿色发展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3520440"/>
            <a:ext cx="3657600" cy="228600"/>
          </a:xfrm>
          <a:prstGeom prst="round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86000" y="3520440"/>
            <a:ext cx="877824" cy="228600"/>
          </a:xfrm>
          <a:prstGeom prst="round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34747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86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6B6B"/>
                </a:solidFill>
              </a:defRPr>
            </a:pPr>
            <a:r>
              <a:t>国企改革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3931920"/>
            <a:ext cx="3657600" cy="228600"/>
          </a:xfrm>
          <a:prstGeom prst="round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86000" y="3931920"/>
            <a:ext cx="365760" cy="228600"/>
          </a:xfrm>
          <a:prstGeom prst="round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3886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97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6B6B"/>
                </a:solidFill>
              </a:defRPr>
            </a:pPr>
            <a:r>
              <a:t>ROE提升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0" y="4343400"/>
            <a:ext cx="3657600" cy="228600"/>
          </a:xfrm>
          <a:prstGeom prst="round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286000" y="4343400"/>
            <a:ext cx="91440" cy="228600"/>
          </a:xfrm>
          <a:prstGeom prst="round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42976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709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6B6B"/>
                </a:solidFill>
              </a:defRPr>
            </a:pPr>
            <a:r>
              <a:t>数字化转型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86000" y="4754880"/>
            <a:ext cx="3657600" cy="228600"/>
          </a:xfrm>
          <a:prstGeom prst="round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286000" y="4754880"/>
            <a:ext cx="91440" cy="228600"/>
          </a:xfrm>
          <a:prstGeom prst="round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4709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120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6B6B"/>
                </a:solidFill>
              </a:defRPr>
            </a:pPr>
            <a:r>
              <a:t>创新驱动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86000" y="5166360"/>
            <a:ext cx="3657600" cy="228600"/>
          </a:xfrm>
          <a:prstGeom prst="round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286000" y="5166360"/>
            <a:ext cx="91440" cy="228600"/>
          </a:xfrm>
          <a:prstGeom prst="round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5120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5321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6B6B"/>
                </a:solidFill>
              </a:defRPr>
            </a:pPr>
            <a:r>
              <a:t>区域发展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286000" y="5577840"/>
            <a:ext cx="3657600" cy="228600"/>
          </a:xfrm>
          <a:prstGeom prst="round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286000" y="5577840"/>
            <a:ext cx="91440" cy="228600"/>
          </a:xfrm>
          <a:prstGeom prst="round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0" y="55321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943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6B6B"/>
                </a:solidFill>
              </a:defRPr>
            </a:pPr>
            <a:r>
              <a:t>消费升级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286000" y="5989320"/>
            <a:ext cx="3657600" cy="228600"/>
          </a:xfrm>
          <a:prstGeom prst="round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286000" y="5989320"/>
            <a:ext cx="91440" cy="228600"/>
          </a:xfrm>
          <a:prstGeom prst="round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0" y="59436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35507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6B6B"/>
                </a:solidFill>
              </a:defRPr>
            </a:pPr>
            <a:r>
              <a:t>供应链安全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286000" y="6400799"/>
            <a:ext cx="3657600" cy="228600"/>
          </a:xfrm>
          <a:prstGeom prst="round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286000" y="6400799"/>
            <a:ext cx="91440" cy="228600"/>
          </a:xfrm>
          <a:prstGeom prst="round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0" y="6355079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29260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分析洞察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34747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✓ 毛利率高，定价能力强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✓ 净利率优秀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✗ 资产周转效率低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→ 建议优化资产配置提升周转效率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→ 关注电价政策和清洁能源转型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A1A1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长江电力</a:t>
            </a:r>
          </a:p>
          <a:p>
            <a:pPr>
              <a:defRPr sz="1400">
                <a:solidFill>
                  <a:srgbClr val="6B6B6B"/>
                </a:solidFill>
              </a:defRPr>
            </a:pPr>
            <a:r>
              <a:t>600900 · 市值 6790亿 · PE 18.8 · PB 2.98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82880"/>
            <a:ext cx="3657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4800" b="1">
                <a:solidFill>
                  <a:srgbClr val="F97316"/>
                </a:solidFill>
              </a:defRPr>
            </a:pPr>
            <a:r>
              <a:t>15.8%</a:t>
            </a:r>
          </a:p>
          <a:p>
            <a:pPr algn="r">
              <a:defRPr sz="1600">
                <a:solidFill>
                  <a:srgbClr val="6B6B6B"/>
                </a:solidFill>
              </a:defRPr>
            </a:pPr>
            <a:r>
              <a:t>ROE · 良好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560320" cy="109728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15.8%</a:t>
            </a:r>
          </a:p>
          <a:p>
            <a:pPr algn="ctr">
              <a:defRPr sz="1200">
                <a:solidFill>
                  <a:srgbClr val="6B6B6B"/>
                </a:solidFill>
              </a:defRPr>
            </a:pPr>
            <a:r>
              <a:t>ROE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645920"/>
            <a:ext cx="2560320" cy="109728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73736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68.6%</a:t>
            </a:r>
          </a:p>
          <a:p>
            <a:pPr algn="ctr">
              <a:defRPr sz="1200">
                <a:solidFill>
                  <a:srgbClr val="6B6B6B"/>
                </a:solidFill>
              </a:defRPr>
            </a:pPr>
            <a:r>
              <a:t>净利率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2560320" cy="109728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0.15</a:t>
            </a:r>
          </a:p>
          <a:p>
            <a:pPr algn="ctr">
              <a:defRPr sz="1200">
                <a:solidFill>
                  <a:srgbClr val="6B6B6B"/>
                </a:solidFill>
              </a:defRPr>
            </a:pPr>
            <a:r>
              <a:t>资产周转率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1645920"/>
            <a:ext cx="2560320" cy="109728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0" y="173736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2.8</a:t>
            </a:r>
          </a:p>
          <a:p>
            <a:pPr algn="ctr">
              <a:defRPr sz="1200">
                <a:solidFill>
                  <a:srgbClr val="6B6B6B"/>
                </a:solidFill>
              </a:defRPr>
            </a:pPr>
            <a:r>
              <a:t>政策匹配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260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政策匹配维度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74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6B6B"/>
                </a:solidFill>
              </a:defRPr>
            </a:pPr>
            <a:r>
              <a:t>绿色发展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3520440"/>
            <a:ext cx="3657600" cy="228600"/>
          </a:xfrm>
          <a:prstGeom prst="round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86000" y="3520440"/>
            <a:ext cx="585216" cy="228600"/>
          </a:xfrm>
          <a:prstGeom prst="round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34747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86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6B6B"/>
                </a:solidFill>
              </a:defRPr>
            </a:pPr>
            <a:r>
              <a:t>国企改革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3931920"/>
            <a:ext cx="3657600" cy="228600"/>
          </a:xfrm>
          <a:prstGeom prst="round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86000" y="3931920"/>
            <a:ext cx="365760" cy="228600"/>
          </a:xfrm>
          <a:prstGeom prst="round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3886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97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6B6B"/>
                </a:solidFill>
              </a:defRPr>
            </a:pPr>
            <a:r>
              <a:t>ROE提升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0" y="4343400"/>
            <a:ext cx="3657600" cy="228600"/>
          </a:xfrm>
          <a:prstGeom prst="round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286000" y="4343400"/>
            <a:ext cx="91440" cy="228600"/>
          </a:xfrm>
          <a:prstGeom prst="round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42976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709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6B6B"/>
                </a:solidFill>
              </a:defRPr>
            </a:pPr>
            <a:r>
              <a:t>数字化转型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86000" y="4754880"/>
            <a:ext cx="3657600" cy="228600"/>
          </a:xfrm>
          <a:prstGeom prst="round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286000" y="4754880"/>
            <a:ext cx="91440" cy="228600"/>
          </a:xfrm>
          <a:prstGeom prst="round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4709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120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6B6B"/>
                </a:solidFill>
              </a:defRPr>
            </a:pPr>
            <a:r>
              <a:t>创新驱动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86000" y="5166360"/>
            <a:ext cx="3657600" cy="228600"/>
          </a:xfrm>
          <a:prstGeom prst="round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286000" y="5166360"/>
            <a:ext cx="91440" cy="228600"/>
          </a:xfrm>
          <a:prstGeom prst="round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5120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5321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6B6B"/>
                </a:solidFill>
              </a:defRPr>
            </a:pPr>
            <a:r>
              <a:t>区域发展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286000" y="5577840"/>
            <a:ext cx="3657600" cy="228600"/>
          </a:xfrm>
          <a:prstGeom prst="round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286000" y="5577840"/>
            <a:ext cx="91440" cy="228600"/>
          </a:xfrm>
          <a:prstGeom prst="round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0" y="55321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943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6B6B"/>
                </a:solidFill>
              </a:defRPr>
            </a:pPr>
            <a:r>
              <a:t>消费升级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286000" y="5989320"/>
            <a:ext cx="3657600" cy="228600"/>
          </a:xfrm>
          <a:prstGeom prst="round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286000" y="5989320"/>
            <a:ext cx="91440" cy="228600"/>
          </a:xfrm>
          <a:prstGeom prst="round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0" y="59436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35507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6B6B"/>
                </a:solidFill>
              </a:defRPr>
            </a:pPr>
            <a:r>
              <a:t>供应链安全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286000" y="6400799"/>
            <a:ext cx="3657600" cy="228600"/>
          </a:xfrm>
          <a:prstGeom prst="round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286000" y="6400799"/>
            <a:ext cx="91440" cy="228600"/>
          </a:xfrm>
          <a:prstGeom prst="round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0" y="6355079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29260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分析洞察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34747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✓ 毛利率高，定价能力强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✓ 净利率优秀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✓ 财务结构稳健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✗ 资产周转效率低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→ 建议优化资产配置提升周转效率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投资建议</a:t>
            </a:r>
          </a:p>
          <a:p>
            <a:br/>
            <a:pPr algn="ctr">
              <a:defRPr sz="1600">
                <a:solidFill>
                  <a:srgbClr val="6B6B6B"/>
                </a:solidFill>
              </a:defRPr>
            </a:pPr>
            <a:r>
              <a:t>• 华能国际 - ROE最高，行业龙头，盈利能力强</a:t>
            </a:r>
          </a:p>
          <a:p>
            <a:br/>
            <a:pPr algn="ctr">
              <a:defRPr sz="1600">
                <a:solidFill>
                  <a:srgbClr val="6B6B6B"/>
                </a:solidFill>
              </a:defRPr>
            </a:pPr>
            <a:r>
              <a:t>• 长江电力 - ROE稳定，全球最大水电，适合稳健投资</a:t>
            </a:r>
          </a:p>
          <a:p>
            <a:br/>
            <a:pPr algn="ctr">
              <a:defRPr sz="1600">
                <a:solidFill>
                  <a:srgbClr val="6B6B6B"/>
                </a:solidFill>
              </a:defRPr>
            </a:pPr>
            <a:r>
              <a:t>• 国投电力 - ROE改善中，清洁能源转型积极</a:t>
            </a:r>
          </a:p>
          <a:p>
            <a:br/>
            <a:pPr algn="ctr">
              <a:defRPr sz="1600">
                <a:solidFill>
                  <a:srgbClr val="6B6B6B"/>
                </a:solidFill>
              </a:defRPr>
            </a:pPr>
            <a:r>
              <a:t>• 华能蒙电 - 政策匹配度高，关注改革进展</a:t>
            </a:r>
          </a:p>
          <a:p>
            <a:br/>
            <a:br/>
            <a:pPr algn="ctr">
              <a:defRPr sz="1400">
                <a:solidFill>
                  <a:srgbClr val="6B6B6B"/>
                </a:solidFill>
              </a:defRPr>
            </a:pPr>
            <a:r>
              <a:t>A股中特估分析框架 v2.1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